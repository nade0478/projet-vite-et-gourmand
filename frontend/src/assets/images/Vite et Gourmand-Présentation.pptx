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sldIdLst>
    <p:sldId id="256" r:id="rId2"/>
    <p:sldId id="263" r:id="rId3"/>
    <p:sldId id="257" r:id="rId4"/>
    <p:sldId id="287" r:id="rId5"/>
    <p:sldId id="264" r:id="rId6"/>
    <p:sldId id="258" r:id="rId7"/>
    <p:sldId id="259" r:id="rId8"/>
    <p:sldId id="265" r:id="rId9"/>
    <p:sldId id="260" r:id="rId10"/>
    <p:sldId id="261" r:id="rId11"/>
    <p:sldId id="266" r:id="rId12"/>
    <p:sldId id="270" r:id="rId13"/>
    <p:sldId id="271" r:id="rId14"/>
    <p:sldId id="272" r:id="rId15"/>
    <p:sldId id="267" r:id="rId16"/>
    <p:sldId id="273" r:id="rId17"/>
    <p:sldId id="274" r:id="rId18"/>
    <p:sldId id="275" r:id="rId19"/>
    <p:sldId id="276" r:id="rId20"/>
    <p:sldId id="268" r:id="rId21"/>
    <p:sldId id="277" r:id="rId22"/>
    <p:sldId id="278" r:id="rId23"/>
    <p:sldId id="279" r:id="rId24"/>
    <p:sldId id="280" r:id="rId25"/>
    <p:sldId id="269" r:id="rId26"/>
    <p:sldId id="281" r:id="rId27"/>
    <p:sldId id="282" r:id="rId28"/>
    <p:sldId id="283" r:id="rId29"/>
    <p:sldId id="262" r:id="rId30"/>
    <p:sldId id="284" r:id="rId31"/>
    <p:sldId id="285" r:id="rId32"/>
    <p:sldId id="286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33"/>
    <a:srgbClr val="D07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62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6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5C95766C-0A08-410D-AC60-0C89D0012691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F14A41D2-B903-4911-9946-55425DE2D600}" type="slidenum">
              <a:rPr lang="fr-FR" smtClean="0"/>
              <a:t>‹N°›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5960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5766C-0A08-410D-AC60-0C89D0012691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A41D2-B903-4911-9946-55425DE2D6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1840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5766C-0A08-410D-AC60-0C89D0012691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A41D2-B903-4911-9946-55425DE2D600}" type="slidenum">
              <a:rPr lang="fr-FR" smtClean="0"/>
              <a:t>‹N°›</a:t>
            </a:fld>
            <a:endParaRPr lang="fr-FR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45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5766C-0A08-410D-AC60-0C89D0012691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A41D2-B903-4911-9946-55425DE2D6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0725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5766C-0A08-410D-AC60-0C89D0012691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A41D2-B903-4911-9946-55425DE2D600}" type="slidenum">
              <a:rPr lang="fr-FR" smtClean="0"/>
              <a:t>‹N°›</a:t>
            </a:fld>
            <a:endParaRPr lang="fr-FR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0665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5766C-0A08-410D-AC60-0C89D0012691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A41D2-B903-4911-9946-55425DE2D600}" type="slidenum">
              <a:rPr lang="fr-FR" smtClean="0"/>
              <a:t>‹N°›</a:t>
            </a:fld>
            <a:endParaRPr lang="fr-FR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55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5766C-0A08-410D-AC60-0C89D0012691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A41D2-B903-4911-9946-55425DE2D6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7102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5766C-0A08-410D-AC60-0C89D0012691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A41D2-B903-4911-9946-55425DE2D600}" type="slidenum">
              <a:rPr lang="fr-FR" smtClean="0"/>
              <a:t>‹N°›</a:t>
            </a:fld>
            <a:endParaRPr lang="fr-FR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5048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5766C-0A08-410D-AC60-0C89D0012691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A41D2-B903-4911-9946-55425DE2D6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1766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5766C-0A08-410D-AC60-0C89D0012691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A41D2-B903-4911-9946-55425DE2D6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6542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5766C-0A08-410D-AC60-0C89D0012691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A41D2-B903-4911-9946-55425DE2D600}" type="slidenum">
              <a:rPr lang="fr-FR" smtClean="0"/>
              <a:t>‹N°›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46668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5766C-0A08-410D-AC60-0C89D0012691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A41D2-B903-4911-9946-55425DE2D600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04909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5766C-0A08-410D-AC60-0C89D0012691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A41D2-B903-4911-9946-55425DE2D6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62911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5766C-0A08-410D-AC60-0C89D0012691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A41D2-B903-4911-9946-55425DE2D600}" type="slidenum">
              <a:rPr lang="fr-FR" smtClean="0"/>
              <a:t>‹N°›</a:t>
            </a:fld>
            <a:endParaRPr lang="fr-FR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64642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5766C-0A08-410D-AC60-0C89D0012691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A41D2-B903-4911-9946-55425DE2D600}" type="slidenum">
              <a:rPr lang="fr-FR" smtClean="0"/>
              <a:t>‹N°›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14326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5766C-0A08-410D-AC60-0C89D0012691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A41D2-B903-4911-9946-55425DE2D600}" type="slidenum">
              <a:rPr lang="fr-FR" smtClean="0"/>
              <a:t>‹N°›</a:t>
            </a:fld>
            <a:endParaRPr lang="fr-FR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25316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5766C-0A08-410D-AC60-0C89D0012691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A41D2-B903-4911-9946-55425DE2D600}" type="slidenum">
              <a:rPr lang="fr-FR" smtClean="0"/>
              <a:t>‹N°›</a:t>
            </a:fld>
            <a:endParaRPr lang="fr-FR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4416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C95766C-0A08-410D-AC60-0C89D0012691}" type="datetimeFigureOut">
              <a:rPr lang="fr-FR" smtClean="0"/>
              <a:t>29/05/2026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14A41D2-B903-4911-9946-55425DE2D6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4138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nourriture, Restauration rapide, Snack, produits de boulangerie&#10;&#10;Le contenu généré par l’IA peut être incorrect.">
            <a:extLst>
              <a:ext uri="{FF2B5EF4-FFF2-40B4-BE49-F238E27FC236}">
                <a16:creationId xmlns:a16="http://schemas.microsoft.com/office/drawing/2014/main" id="{859B3B73-BE73-DB78-7B64-20C5478899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15708"/>
          <a:stretch>
            <a:fillRect/>
          </a:stretch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D44D1DD3-C592-33E4-2D33-1FB25F2309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871" y="1685677"/>
            <a:ext cx="4181444" cy="2362673"/>
          </a:xfrm>
        </p:spPr>
        <p:txBody>
          <a:bodyPr anchor="b">
            <a:normAutofit/>
          </a:bodyPr>
          <a:lstStyle/>
          <a:p>
            <a:r>
              <a:rPr lang="fr-FR" sz="5400" b="1">
                <a:solidFill>
                  <a:schemeClr val="tx1">
                    <a:lumMod val="75000"/>
                    <a:lumOff val="25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Vite et Gourmand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1C5251D-F7E5-4D79-7278-98B51BF618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5648" y="4202811"/>
            <a:ext cx="3283888" cy="816301"/>
          </a:xfrm>
        </p:spPr>
        <p:txBody>
          <a:bodyPr anchor="t">
            <a:normAutofit/>
          </a:bodyPr>
          <a:lstStyle/>
          <a:p>
            <a:r>
              <a:rPr lang="fr-FR" sz="1100">
                <a:solidFill>
                  <a:schemeClr val="tx1">
                    <a:lumMod val="75000"/>
                    <a:lumOff val="2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Dossier Projet Site Web</a:t>
            </a:r>
          </a:p>
          <a:p>
            <a:r>
              <a:rPr lang="fr-FR" sz="1100">
                <a:solidFill>
                  <a:schemeClr val="tx1">
                    <a:lumMod val="75000"/>
                    <a:lumOff val="2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http://vite-et-gourmand.com</a:t>
            </a:r>
          </a:p>
          <a:p>
            <a:r>
              <a:rPr lang="fr-FR" sz="1100">
                <a:solidFill>
                  <a:schemeClr val="tx1">
                    <a:lumMod val="75000"/>
                    <a:lumOff val="2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Auteur : Nadège GAUTIER</a:t>
            </a:r>
          </a:p>
        </p:txBody>
      </p:sp>
    </p:spTree>
    <p:extLst>
      <p:ext uri="{BB962C8B-B14F-4D97-AF65-F5344CB8AC3E}">
        <p14:creationId xmlns:p14="http://schemas.microsoft.com/office/powerpoint/2010/main" val="3890178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13CE1F-3621-98F7-AA6F-29CE0E04C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124" y="2466375"/>
            <a:ext cx="9601196" cy="1303867"/>
          </a:xfrm>
        </p:spPr>
        <p:txBody>
          <a:bodyPr/>
          <a:lstStyle/>
          <a:p>
            <a:r>
              <a:rPr lang="fr-FR" b="1" dirty="0"/>
              <a:t>1. Introduction et contexte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35516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Strokes/>
                    </a14:imgEffect>
                  </a14:imgLayer>
                </a14:imgProps>
              </a:ext>
            </a:extLst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9">
            <a:extLst>
              <a:ext uri="{FF2B5EF4-FFF2-40B4-BE49-F238E27FC236}">
                <a16:creationId xmlns:a16="http://schemas.microsoft.com/office/drawing/2014/main" id="{DFB5D1BB-0703-437B-BD1E-1D07F8A27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886586B-3F0F-4593-B272-AE75AD0F0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20DEB59-BF94-41B5-8F16-8B10442EE0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A3BEF6F-FC03-43B1-8D1B-8DA3A360D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F49BA32-A501-4C79-9A72-92587AB9EE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cxnSp>
        <p:nvCxnSpPr>
          <p:cNvPr id="39" name="Straight Connector 15">
            <a:extLst>
              <a:ext uri="{FF2B5EF4-FFF2-40B4-BE49-F238E27FC236}">
                <a16:creationId xmlns:a16="http://schemas.microsoft.com/office/drawing/2014/main" id="{883F92AF-2403-4558-B1D7-72130A1E4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A440FBE6-72B7-43D4-A8EB-FDBC35FE5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19">
            <a:extLst>
              <a:ext uri="{FF2B5EF4-FFF2-40B4-BE49-F238E27FC236}">
                <a16:creationId xmlns:a16="http://schemas.microsoft.com/office/drawing/2014/main" id="{647B8492-BC4D-4046-B35A-C38E03494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47264A7B-BD07-443B-B4AE-B7D112274D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8D9B85B4-ACC6-412B-BC6B-2163BCCDFB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17D5E57D-F913-44D3-9AF3-FCDFAE64F7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BCF01E4E-4102-455A-BC41-D5F848B94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C9A6C89E-D0E5-5847-784C-CDF98C1E0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2" y="982132"/>
            <a:ext cx="3660056" cy="132537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400" dirty="0"/>
              <a:t>PRESENTATION</a:t>
            </a:r>
            <a:br>
              <a:rPr lang="en-US" sz="2400" dirty="0"/>
            </a:br>
            <a:endParaRPr lang="en-US" sz="2400" dirty="0"/>
          </a:p>
        </p:txBody>
      </p:sp>
      <p:cxnSp>
        <p:nvCxnSpPr>
          <p:cNvPr id="43" name="Straight Connector 25">
            <a:extLst>
              <a:ext uri="{FF2B5EF4-FFF2-40B4-BE49-F238E27FC236}">
                <a16:creationId xmlns:a16="http://schemas.microsoft.com/office/drawing/2014/main" id="{16652DC1-CA18-4263-AC06-BAB0B05EC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95401" y="2400639"/>
            <a:ext cx="36600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ous-titre 2">
            <a:extLst>
              <a:ext uri="{FF2B5EF4-FFF2-40B4-BE49-F238E27FC236}">
                <a16:creationId xmlns:a16="http://schemas.microsoft.com/office/drawing/2014/main" id="{B8E1D501-979B-C956-2F38-2846BDF995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1505" y="2005781"/>
            <a:ext cx="4415180" cy="3870085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 algn="l">
              <a:lnSpc>
                <a:spcPct val="160000"/>
              </a:lnSpc>
              <a:buFont typeface="Arial"/>
              <a:buChar char="•"/>
            </a:pP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Julie et José, restaurateurs à Bordeaux </a:t>
            </a:r>
            <a:r>
              <a:rPr lang="en-US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depuis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 </a:t>
            </a:r>
            <a:r>
              <a:rPr lang="en-US" sz="18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dirigent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les </a:t>
            </a:r>
            <a:r>
              <a:rPr lang="en-US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établissements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Vite &amp; Gourmand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Ils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proposent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une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gamme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menus </a:t>
            </a:r>
            <a:r>
              <a:rPr lang="en-US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allant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des </a:t>
            </a:r>
            <a:r>
              <a:rPr lang="en-US" sz="18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repas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simples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aux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menus </a:t>
            </a:r>
            <a:r>
              <a:rPr lang="en-US" sz="18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d’événements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Pour </a:t>
            </a:r>
            <a:r>
              <a:rPr lang="en-US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améliorer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leur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visibilité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US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renforcer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le lien avec </a:t>
            </a:r>
            <a:r>
              <a:rPr lang="en-US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leurs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clients, </a:t>
            </a:r>
            <a:r>
              <a:rPr lang="en-US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ils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ont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décidé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</a:p>
          <a:p>
            <a:pPr indent="-228600" algn="l">
              <a:lnSpc>
                <a:spcPct val="160000"/>
              </a:lnSpc>
              <a:buFont typeface="Arial"/>
              <a:buChar char="•"/>
            </a:pPr>
            <a:r>
              <a:rPr lang="en-US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d’</a:t>
            </a:r>
            <a:r>
              <a:rPr lang="en-US" sz="18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envoyer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leurs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menus par mail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à </a:t>
            </a:r>
            <a:r>
              <a:rPr lang="en-US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leurs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habitués ;</a:t>
            </a:r>
          </a:p>
          <a:p>
            <a:pPr indent="-228600" algn="l">
              <a:lnSpc>
                <a:spcPct val="160000"/>
              </a:lnSpc>
              <a:buFont typeface="Arial"/>
              <a:buChar char="•"/>
            </a:pP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en-US" sz="18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créer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une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application web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collaboration avec </a:t>
            </a:r>
            <a:r>
              <a:rPr lang="en-US" sz="18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FastDev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>
              <a:lnSpc>
                <a:spcPct val="160000"/>
              </a:lnSpc>
              <a:buFont typeface="Arial"/>
              <a:buChar char="•"/>
            </a:pP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Objectif du </a:t>
            </a:r>
            <a:r>
              <a:rPr lang="en-US" sz="18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projet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</a:p>
          <a:p>
            <a:pPr indent="-228600" algn="l">
              <a:lnSpc>
                <a:spcPct val="160000"/>
              </a:lnSpc>
              <a:buFont typeface="Arial"/>
              <a:buChar char="•"/>
            </a:pPr>
            <a:r>
              <a:rPr lang="en-US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Développer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une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web </a:t>
            </a:r>
            <a:r>
              <a:rPr lang="en-US" sz="18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complète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pour la gestion du service de restauration, </a:t>
            </a:r>
            <a:r>
              <a:rPr lang="en-US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offrant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</a:p>
          <a:p>
            <a:pPr indent="-228600" algn="l">
              <a:lnSpc>
                <a:spcPct val="160000"/>
              </a:lnSpc>
              <a:buFont typeface="Arial"/>
              <a:buChar char="•"/>
            </a:pPr>
            <a:r>
              <a:rPr lang="en-US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une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interface </a:t>
            </a:r>
            <a:r>
              <a:rPr lang="en-US" sz="18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moderne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intuitive et responsive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pour les </a:t>
            </a:r>
            <a:r>
              <a:rPr lang="en-US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utilisateurs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 ;</a:t>
            </a:r>
          </a:p>
          <a:p>
            <a:pPr indent="-228600" algn="l">
              <a:lnSpc>
                <a:spcPct val="160000"/>
              </a:lnSpc>
              <a:buFont typeface="Arial"/>
              <a:buChar char="•"/>
            </a:pP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</a:t>
            </a:r>
            <a:r>
              <a:rPr lang="en-US" sz="18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espace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d’administration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pour </a:t>
            </a:r>
            <a:r>
              <a:rPr lang="en-US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gérer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les 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menus, plats, </a:t>
            </a:r>
            <a:r>
              <a:rPr lang="en-US" sz="18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commandes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avis</a:t>
            </a:r>
            <a:r>
              <a: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US" sz="18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horaires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indent="-228600">
              <a:lnSpc>
                <a:spcPct val="90000"/>
              </a:lnSpc>
              <a:buFont typeface="Arial"/>
              <a:buChar char="•"/>
            </a:pP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Image 4" descr="Une image contenant texte, personne, habits, sourire&#10;&#10;Le contenu généré par l’IA peut être incorrect.">
            <a:extLst>
              <a:ext uri="{FF2B5EF4-FFF2-40B4-BE49-F238E27FC236}">
                <a16:creationId xmlns:a16="http://schemas.microsoft.com/office/drawing/2014/main" id="{5C9C6C0B-2A7A-6DBE-4C87-B53A2B9744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2" r="24997" b="2"/>
          <a:stretch>
            <a:fillRect/>
          </a:stretch>
        </p:blipFill>
        <p:spPr>
          <a:xfrm>
            <a:off x="5418668" y="982131"/>
            <a:ext cx="5469466" cy="4893735"/>
          </a:xfrm>
          <a:prstGeom prst="rect">
            <a:avLst/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3586004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65E08B-FF2C-868E-7CA6-130ECEDF0F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sz="4000" dirty="0"/>
              <a:t>La problématique : passer du mail à une application web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4585F6B-8EBE-D39C-9807-E00B8FC573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0236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D3B227-A367-9123-D885-42EC116E4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2519384"/>
            <a:ext cx="9601196" cy="1303867"/>
          </a:xfrm>
        </p:spPr>
        <p:txBody>
          <a:bodyPr/>
          <a:lstStyle/>
          <a:p>
            <a:r>
              <a:rPr lang="fr-FR" b="1" dirty="0"/>
              <a:t>2. Analyse des besoins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57994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Strokes/>
                    </a14:imgEffect>
                  </a14:imgLayer>
                </a14:imgProps>
              </a:ext>
            </a:extLst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CBACEA-1EC5-4546-DBFC-4FEEA0A1A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Fonctionnalités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526317A-68B8-97CB-DB24-BFE0E3EBE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sz="1800" b="1" dirty="0"/>
              <a:t>Objectifs principaux :</a:t>
            </a:r>
          </a:p>
          <a:p>
            <a:r>
              <a:rPr lang="fr-FR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Application ergonomique et responsive</a:t>
            </a:r>
            <a:endParaRPr lang="fr-F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API REST robuste et sécurisée</a:t>
            </a:r>
            <a:endParaRPr lang="fr-F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Base de données cohérente</a:t>
            </a:r>
            <a:endParaRPr lang="fr-F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Gestion simple des contenus</a:t>
            </a:r>
            <a:endParaRPr lang="fr-F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Expérience utilisateur fluide</a:t>
            </a:r>
          </a:p>
          <a:p>
            <a:endParaRPr lang="fr-F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34305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Strokes/>
                    </a14:imgEffect>
                  </a14:imgLayer>
                </a14:imgProps>
              </a:ext>
            </a:extLst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B52491-1C4F-27F6-8C53-D1179476B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965938"/>
          </a:xfrm>
        </p:spPr>
        <p:txBody>
          <a:bodyPr/>
          <a:lstStyle/>
          <a:p>
            <a:pPr algn="ctr"/>
            <a:r>
              <a:rPr lang="fr-FR" sz="4400" dirty="0">
                <a:solidFill>
                  <a:srgbClr val="996633"/>
                </a:solidFill>
                <a:effectLst/>
                <a:latin typeface="Aptos Display" panose="020B0004020202020204" pitchFamily="34" charset="0"/>
              </a:rPr>
              <a:t>PUBLIC CIBLE</a:t>
            </a:r>
            <a:endParaRPr lang="fr-FR" dirty="0">
              <a:solidFill>
                <a:srgbClr val="996633"/>
              </a:solidFill>
            </a:endParaRP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583EBB4D-51CB-6B68-2C84-0291B731A4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2707416"/>
              </p:ext>
            </p:extLst>
          </p:nvPr>
        </p:nvGraphicFramePr>
        <p:xfrm>
          <a:off x="838200" y="1785868"/>
          <a:ext cx="10515600" cy="4230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1609">
                  <a:extLst>
                    <a:ext uri="{9D8B030D-6E8A-4147-A177-3AD203B41FA5}">
                      <a16:colId xmlns:a16="http://schemas.microsoft.com/office/drawing/2014/main" val="1546362647"/>
                    </a:ext>
                  </a:extLst>
                </a:gridCol>
                <a:gridCol w="6423991">
                  <a:extLst>
                    <a:ext uri="{9D8B030D-6E8A-4147-A177-3AD203B41FA5}">
                      <a16:colId xmlns:a16="http://schemas.microsoft.com/office/drawing/2014/main" val="1134106738"/>
                    </a:ext>
                  </a:extLst>
                </a:gridCol>
              </a:tblGrid>
              <a:tr h="846124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Catégorie</a:t>
                      </a:r>
                    </a:p>
                  </a:txBody>
                  <a:tcPr anchor="ctr">
                    <a:gradFill>
                      <a:gsLst>
                        <a:gs pos="22000">
                          <a:schemeClr val="accent1">
                            <a:lumMod val="5000"/>
                            <a:lumOff val="95000"/>
                            <a:alpha val="8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Description</a:t>
                      </a:r>
                    </a:p>
                  </a:txBody>
                  <a:tcPr anchor="ctr">
                    <a:gradFill>
                      <a:gsLst>
                        <a:gs pos="22000">
                          <a:schemeClr val="accent1">
                            <a:lumMod val="5000"/>
                            <a:lumOff val="95000"/>
                            <a:alpha val="8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356790833"/>
                  </a:ext>
                </a:extLst>
              </a:tr>
              <a:tr h="846124">
                <a:tc>
                  <a:txBody>
                    <a:bodyPr/>
                    <a:lstStyle/>
                    <a:p>
                      <a:r>
                        <a:rPr lang="fr-FR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Visiteurs</a:t>
                      </a:r>
                    </a:p>
                  </a:txBody>
                  <a:tcPr anchor="ctr">
                    <a:gradFill>
                      <a:gsLst>
                        <a:gs pos="22000">
                          <a:schemeClr val="accent1">
                            <a:lumMod val="5000"/>
                            <a:lumOff val="95000"/>
                            <a:alpha val="8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Consultent les menus, filtres, contact, mentions légales ; peuvent s’inscrire.</a:t>
                      </a:r>
                    </a:p>
                  </a:txBody>
                  <a:tcPr anchor="ctr">
                    <a:gradFill>
                      <a:gsLst>
                        <a:gs pos="22000">
                          <a:schemeClr val="accent1">
                            <a:lumMod val="5000"/>
                            <a:lumOff val="95000"/>
                            <a:alpha val="8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625977837"/>
                  </a:ext>
                </a:extLst>
              </a:tr>
              <a:tr h="846124">
                <a:tc>
                  <a:txBody>
                    <a:bodyPr/>
                    <a:lstStyle/>
                    <a:p>
                      <a:r>
                        <a:rPr lang="fr-FR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Utilisateurs</a:t>
                      </a:r>
                      <a:endParaRPr lang="fr-FR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gradFill>
                      <a:gsLst>
                        <a:gs pos="22000">
                          <a:schemeClr val="accent1">
                            <a:lumMod val="5000"/>
                            <a:lumOff val="95000"/>
                            <a:alpha val="8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Particuliers commandant des menus pour événements (Noël, Pâques, etc.).</a:t>
                      </a:r>
                    </a:p>
                  </a:txBody>
                  <a:tcPr anchor="ctr">
                    <a:gradFill>
                      <a:gsLst>
                        <a:gs pos="22000">
                          <a:schemeClr val="accent1">
                            <a:lumMod val="5000"/>
                            <a:lumOff val="95000"/>
                            <a:alpha val="8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263274900"/>
                  </a:ext>
                </a:extLst>
              </a:tr>
              <a:tr h="846124">
                <a:tc>
                  <a:txBody>
                    <a:bodyPr/>
                    <a:lstStyle/>
                    <a:p>
                      <a:r>
                        <a:rPr lang="fr-FR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Employés</a:t>
                      </a:r>
                      <a:endParaRPr lang="fr-FR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gradFill>
                      <a:gsLst>
                        <a:gs pos="22000">
                          <a:schemeClr val="accent1">
                            <a:lumMod val="5000"/>
                            <a:lumOff val="95000"/>
                            <a:alpha val="8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Julie, José et leur équipe : gestion des plats, horaires, commandes.</a:t>
                      </a:r>
                    </a:p>
                  </a:txBody>
                  <a:tcPr anchor="ctr">
                    <a:gradFill>
                      <a:gsLst>
                        <a:gs pos="22000">
                          <a:schemeClr val="accent1">
                            <a:lumMod val="5000"/>
                            <a:lumOff val="95000"/>
                            <a:alpha val="8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56957768"/>
                  </a:ext>
                </a:extLst>
              </a:tr>
              <a:tr h="846124">
                <a:tc>
                  <a:txBody>
                    <a:bodyPr/>
                    <a:lstStyle/>
                    <a:p>
                      <a:r>
                        <a:rPr lang="fr-FR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Administrateur</a:t>
                      </a:r>
                      <a:endParaRPr lang="fr-FR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gradFill>
                      <a:gsLst>
                        <a:gs pos="22000">
                          <a:schemeClr val="accent1">
                            <a:lumMod val="5000"/>
                            <a:lumOff val="95000"/>
                            <a:alpha val="8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José supervise tout, crée les comptes et suit les statistiques.</a:t>
                      </a:r>
                    </a:p>
                  </a:txBody>
                  <a:tcPr anchor="ctr">
                    <a:gradFill>
                      <a:gsLst>
                        <a:gs pos="22000">
                          <a:schemeClr val="accent1">
                            <a:lumMod val="5000"/>
                            <a:lumOff val="95000"/>
                            <a:alpha val="8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040786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2424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006265-7DAD-1841-3C59-CC340E33F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167" y="2506132"/>
            <a:ext cx="9601196" cy="1303867"/>
          </a:xfrm>
        </p:spPr>
        <p:txBody>
          <a:bodyPr/>
          <a:lstStyle/>
          <a:p>
            <a:r>
              <a:rPr lang="fr-FR" dirty="0"/>
              <a:t>3. Conception</a:t>
            </a:r>
          </a:p>
        </p:txBody>
      </p:sp>
    </p:spTree>
    <p:extLst>
      <p:ext uri="{BB962C8B-B14F-4D97-AF65-F5344CB8AC3E}">
        <p14:creationId xmlns:p14="http://schemas.microsoft.com/office/powerpoint/2010/main" val="3335890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9401732C-37EE-4B98-A709-9530173F3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54E48C8-2A00-4C54-BC9C-B18EE49E9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786"/>
            <a:ext cx="12229962" cy="6856214"/>
            <a:chOff x="-15736" y="0"/>
            <a:chExt cx="12229962" cy="6856214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CE0A0544-8F52-43F0-AC3E-DF683908B5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F4057D3-A680-4443-9E51-ED920A691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2F6853A4-7B38-4FDE-B024-AE8BA71E7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86ADF4DB-4290-4441-8F8E-04152FE60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959621FE-CA7C-E8B6-589E-56C6E0EF1C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7528" y="982132"/>
            <a:ext cx="4094017" cy="2823880"/>
          </a:xfrm>
        </p:spPr>
        <p:txBody>
          <a:bodyPr anchor="ctr">
            <a:normAutofit/>
          </a:bodyPr>
          <a:lstStyle/>
          <a:p>
            <a:r>
              <a:rPr lang="fr-FR" b="1" dirty="0">
                <a:solidFill>
                  <a:srgbClr val="996633"/>
                </a:solidFill>
              </a:rPr>
              <a:t>METHODE DE TRAVAIL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017D953-1FB3-4B8C-B938-2B20F143EB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7528" y="3429000"/>
            <a:ext cx="4094017" cy="2327564"/>
          </a:xfrm>
        </p:spPr>
        <p:txBody>
          <a:bodyPr anchor="ctr">
            <a:normAutofit/>
          </a:bodyPr>
          <a:lstStyle/>
          <a:p>
            <a:r>
              <a:rPr lang="fr-FR" dirty="0">
                <a:latin typeface="Times New Roman" panose="02020603050405020304" pitchFamily="18" charset="0"/>
                <a:ea typeface="Aptos" panose="020B0004020202020204" pitchFamily="34" charset="0"/>
              </a:rPr>
              <a:t>P</a:t>
            </a:r>
            <a:r>
              <a:rPr lang="fr-FR" sz="2400" dirty="0">
                <a:latin typeface="Times New Roman" panose="02020603050405020304" pitchFamily="18" charset="0"/>
                <a:ea typeface="Aptos" panose="020B0004020202020204" pitchFamily="34" charset="0"/>
              </a:rPr>
              <a:t>lus grande flexibilité et adaptabilité pour des modifications future.</a:t>
            </a:r>
          </a:p>
          <a:p>
            <a:r>
              <a:rPr lang="fr-FR" sz="2400" dirty="0">
                <a:latin typeface="Times New Roman" panose="02020603050405020304" pitchFamily="18" charset="0"/>
              </a:rPr>
              <a:t>Travail autonome.</a:t>
            </a:r>
            <a:endParaRPr lang="en-US" sz="3200" dirty="0"/>
          </a:p>
        </p:txBody>
      </p:sp>
      <p:pic>
        <p:nvPicPr>
          <p:cNvPr id="4" name="Image 3" descr="Une image contenant texte, capture d’écran, Police, diagramme&#10;&#10;Le contenu généré par l’IA peut être incorrect.">
            <a:extLst>
              <a:ext uri="{FF2B5EF4-FFF2-40B4-BE49-F238E27FC236}">
                <a16:creationId xmlns:a16="http://schemas.microsoft.com/office/drawing/2014/main" id="{9872F5DA-47EC-DAC4-26E7-3010F92BE2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18668" y="1603564"/>
            <a:ext cx="5469466" cy="3650868"/>
          </a:xfrm>
          <a:prstGeom prst="rect">
            <a:avLst/>
          </a:prstGeom>
          <a:noFill/>
          <a:ln w="57150" cmpd="thickThin">
            <a:solidFill>
              <a:srgbClr val="7F7F7F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3304153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9">
            <a:extLst>
              <a:ext uri="{FF2B5EF4-FFF2-40B4-BE49-F238E27FC236}">
                <a16:creationId xmlns:a16="http://schemas.microsoft.com/office/drawing/2014/main" id="{DFB5D1BB-0703-437B-BD1E-1D07F8A27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886586B-3F0F-4593-B272-AE75AD0F0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20DEB59-BF94-41B5-8F16-8B10442EE0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A3BEF6F-FC03-43B1-8D1B-8DA3A360D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F49BA32-A501-4C79-9A72-92587AB9EE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cxnSp>
        <p:nvCxnSpPr>
          <p:cNvPr id="30" name="Straight Connector 15">
            <a:extLst>
              <a:ext uri="{FF2B5EF4-FFF2-40B4-BE49-F238E27FC236}">
                <a16:creationId xmlns:a16="http://schemas.microsoft.com/office/drawing/2014/main" id="{883F92AF-2403-4558-B1D7-72130A1E4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22AC0F86-9A78-4E84-A4B4-ADB8B2629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19">
            <a:extLst>
              <a:ext uri="{FF2B5EF4-FFF2-40B4-BE49-F238E27FC236}">
                <a16:creationId xmlns:a16="http://schemas.microsoft.com/office/drawing/2014/main" id="{4AF78B9E-8BE2-4706-9377-A05FA25AB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2CDFDE2-4DB3-4623-BA21-187D1B710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D74B2AA-1443-4E9B-8462-F7F5B8525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9BB652B6-7300-49EC-9422-EF5342492A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34" name="Picture 23">
              <a:extLst>
                <a:ext uri="{FF2B5EF4-FFF2-40B4-BE49-F238E27FC236}">
                  <a16:creationId xmlns:a16="http://schemas.microsoft.com/office/drawing/2014/main" id="{D0909587-01DE-424D-A15F-DAA28CF2C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FF8849C1-7CDC-6554-FB47-96402BF5F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5825" y="982132"/>
            <a:ext cx="3360772" cy="13038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/>
              <a:t>GESTION DU TEMPS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9A54E25-1C05-48E5-A5CC-3778C1D363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3" y="1092200"/>
            <a:ext cx="5942687" cy="451510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Espace réservé du contenu 3" descr="Une image contenant texte, capture d’écran, logiciel, nombre&#10;&#10;Le contenu généré par l’IA peut être incorrect.">
            <a:extLst>
              <a:ext uri="{FF2B5EF4-FFF2-40B4-BE49-F238E27FC236}">
                <a16:creationId xmlns:a16="http://schemas.microsoft.com/office/drawing/2014/main" id="{BE8E4EAB-1AA4-B222-44B7-D4948626FD7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5"/>
          <a:srcRect r="29889" b="-2"/>
          <a:stretch>
            <a:fillRect/>
          </a:stretch>
        </p:blipFill>
        <p:spPr>
          <a:xfrm>
            <a:off x="1412683" y="1410208"/>
            <a:ext cx="5278777" cy="3858780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E5D0023-B23E-4823-8D72-B07FFF8CA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20089" y="2400639"/>
            <a:ext cx="337650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1D138FFB-6FDC-4E7D-61A7-3DF97B80CC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35824" y="2556932"/>
            <a:ext cx="3360771" cy="33189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/>
              <a:t>Travail automome pas de repartition des taches</a:t>
            </a:r>
          </a:p>
          <a:p>
            <a:r>
              <a:rPr lang="en-US" sz="2200"/>
              <a:t>Les tâches ont été suivies via </a:t>
            </a:r>
            <a:r>
              <a:rPr lang="en-US" sz="2200" b="1"/>
              <a:t>ClickUp </a:t>
            </a:r>
            <a:r>
              <a:rPr lang="en-US" sz="2200"/>
              <a:t>pour assurer une gestion efficace et une visibilité sur l’avancement du projet.</a:t>
            </a:r>
          </a:p>
          <a:p>
            <a:r>
              <a:rPr lang="en-US" sz="2200"/>
              <a:t>Utilisation de ClickUp</a:t>
            </a: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096432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695FB3-45E5-C3B5-5F60-42EA4B7F9F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4. Réalisation </a:t>
            </a:r>
            <a:r>
              <a:rPr lang="fr-FR" dirty="0" err="1"/>
              <a:t>Front-End</a:t>
            </a:r>
            <a:endParaRPr lang="fr-FR" dirty="0"/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020F7D2C-2CE7-644C-BEED-69A00575B4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3839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93AFC0-B3A5-5287-92CD-B06FB72581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sz="4000" dirty="0"/>
              <a:t>Stack </a:t>
            </a:r>
            <a:r>
              <a:rPr lang="fr-FR" sz="4000" dirty="0" err="1"/>
              <a:t>React</a:t>
            </a:r>
            <a:r>
              <a:rPr lang="fr-FR" sz="4000" dirty="0"/>
              <a:t> (Vite) + </a:t>
            </a:r>
            <a:r>
              <a:rPr lang="fr-FR" sz="4000" dirty="0" err="1"/>
              <a:t>React</a:t>
            </a:r>
            <a:r>
              <a:rPr lang="fr-FR" sz="4000" dirty="0"/>
              <a:t> Router + Bootstrap + Axios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1DD2AB3-D831-B92E-78CF-93B3C9ED47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0304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2FF854-D4B9-955B-B31E-19830A0FE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Structure du projet, composants clés (</a:t>
            </a:r>
            <a:r>
              <a:rPr lang="fr-FR" dirty="0" err="1"/>
              <a:t>Navbar</a:t>
            </a:r>
            <a:r>
              <a:rPr lang="fr-FR" dirty="0"/>
              <a:t>, </a:t>
            </a:r>
            <a:r>
              <a:rPr lang="fr-FR" dirty="0" err="1"/>
              <a:t>ProtectedRoute</a:t>
            </a:r>
            <a:r>
              <a:rPr lang="fr-FR" dirty="0"/>
              <a:t>, </a:t>
            </a:r>
            <a:r>
              <a:rPr lang="fr-FR" dirty="0" err="1"/>
              <a:t>MenuCard</a:t>
            </a:r>
            <a:r>
              <a:rPr lang="fr-FR" dirty="0"/>
              <a:t>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B2C7F6D-F682-D4E8-5841-57DB62521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00682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ADA1F7-54E6-6855-21D6-E6BB4EF15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Gestion des états : </a:t>
            </a:r>
            <a:r>
              <a:rPr lang="fr-FR" dirty="0" err="1"/>
              <a:t>AuthContext</a:t>
            </a:r>
            <a:r>
              <a:rPr lang="fr-FR" dirty="0"/>
              <a:t>, </a:t>
            </a:r>
            <a:r>
              <a:rPr lang="fr-FR" dirty="0" err="1"/>
              <a:t>CartContext</a:t>
            </a:r>
            <a:r>
              <a:rPr lang="fr-FR" dirty="0"/>
              <a:t>, intercepteur Axios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F79CB58-5FB8-CDD1-030B-B49A00D3B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725773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85C3A2-8C7A-8D1D-8E03-2AC5D363F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2506132"/>
            <a:ext cx="9601196" cy="1303867"/>
          </a:xfrm>
        </p:spPr>
        <p:txBody>
          <a:bodyPr/>
          <a:lstStyle/>
          <a:p>
            <a:r>
              <a:rPr lang="fr-FR" b="1" dirty="0"/>
              <a:t>5. Réalisation </a:t>
            </a:r>
            <a:r>
              <a:rPr lang="fr-FR" b="1" dirty="0" err="1"/>
              <a:t>Back-End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193210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0B3188-42F8-6350-91AF-D381E9491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API REST </a:t>
            </a:r>
            <a:r>
              <a:rPr lang="fr-FR" dirty="0" err="1"/>
              <a:t>Laravel</a:t>
            </a:r>
            <a:r>
              <a:rPr lang="fr-FR" dirty="0"/>
              <a:t> + architecture MVC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016B45-C351-9B5B-024F-07AF54B481B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A9E58E6-3B54-EF8A-404F-0692DED99E0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2696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8D7325-0D3A-4B79-B08D-591994578E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Authentification JWT (</a:t>
            </a:r>
            <a:r>
              <a:rPr lang="fr-FR" dirty="0" err="1"/>
              <a:t>PHPOpenSourceSaver</a:t>
            </a:r>
            <a:r>
              <a:rPr lang="fr-FR" dirty="0"/>
              <a:t>)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9A323AA-5EFA-8181-FE5D-D8F6A546ED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96021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82375B-4C72-5795-7636-1012BC2968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err="1"/>
              <a:t>Endpoints</a:t>
            </a:r>
            <a:r>
              <a:rPr lang="fr-FR" dirty="0"/>
              <a:t> principaux + gestion CORS et erreurs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0A3B545-E373-9A3F-56A8-0CF46E7D28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88863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62C568-6BC1-8168-51F6-2AC80C6BAC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sz="3600" dirty="0"/>
              <a:t>Base SQL (MySQL) + intégration NoSQL (MongoDB pour les avis)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F9F874C-A94C-C9B8-F119-47F27AC385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70763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ABD80E-1204-20EA-CF9C-F49402D97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2532636"/>
            <a:ext cx="9601196" cy="1303867"/>
          </a:xfrm>
        </p:spPr>
        <p:txBody>
          <a:bodyPr/>
          <a:lstStyle/>
          <a:p>
            <a:r>
              <a:rPr lang="fr-FR" dirty="0"/>
              <a:t>6. Tests et sécurité</a:t>
            </a:r>
          </a:p>
        </p:txBody>
      </p:sp>
    </p:spTree>
    <p:extLst>
      <p:ext uri="{BB962C8B-B14F-4D97-AF65-F5344CB8AC3E}">
        <p14:creationId xmlns:p14="http://schemas.microsoft.com/office/powerpoint/2010/main" val="14999061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B57AE6-64A7-759C-192C-A22E9F4978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sz="3600" dirty="0"/>
              <a:t>Tests unitaires </a:t>
            </a:r>
            <a:r>
              <a:rPr lang="fr-FR" sz="3600" dirty="0" err="1"/>
              <a:t>Jest</a:t>
            </a:r>
            <a:r>
              <a:rPr lang="fr-FR" sz="3600" dirty="0"/>
              <a:t> (</a:t>
            </a:r>
            <a:r>
              <a:rPr lang="fr-FR" sz="3600" dirty="0" err="1"/>
              <a:t>LoginForm</a:t>
            </a:r>
            <a:r>
              <a:rPr lang="fr-FR" sz="3600" dirty="0"/>
              <a:t>, </a:t>
            </a:r>
            <a:r>
              <a:rPr lang="fr-FR" sz="3600" dirty="0" err="1"/>
              <a:t>MenuCard</a:t>
            </a:r>
            <a:r>
              <a:rPr lang="fr-FR" sz="3600" dirty="0"/>
              <a:t>, </a:t>
            </a:r>
            <a:r>
              <a:rPr lang="fr-FR" sz="3600" dirty="0" err="1"/>
              <a:t>ProtectedRoute</a:t>
            </a:r>
            <a:r>
              <a:rPr lang="fr-FR" sz="3600" dirty="0"/>
              <a:t>…)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AB28F0B-E213-9982-1F29-4E7D44E54B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29125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6E9D7D-2C7D-5B82-C4E7-B55D1040C1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sz="4400" dirty="0"/>
              <a:t>Tests fonctionnels Postman (tableau des résultats)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EA193AF-6947-3B5E-5F4B-5F0AD40608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90882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AC3CCA-238F-5B4F-E6BE-B37BD40FF4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sz="3600" dirty="0"/>
              <a:t>Tests de sécurité OWASP (injection SQL, XSS, accès inter-rôles)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9155446-69A7-D597-B925-2F2796C19D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52147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69D925-791B-1287-C735-49B3ECED6C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Bugs corrigés : </a:t>
            </a:r>
            <a:r>
              <a:rPr lang="fr-FR" dirty="0" err="1"/>
              <a:t>InnoDB</a:t>
            </a:r>
            <a:r>
              <a:rPr lang="fr-FR" dirty="0"/>
              <a:t>, CORS, JWT </a:t>
            </a:r>
            <a:r>
              <a:rPr lang="fr-FR" dirty="0" err="1"/>
              <a:t>interceptor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C4719F9-969A-94AB-959A-6CC9209392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00889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B70D2C-5666-CA33-2DD6-2FC89C6772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7. Déploiement &amp; CI/CD</a:t>
            </a:r>
          </a:p>
        </p:txBody>
      </p:sp>
    </p:spTree>
    <p:extLst>
      <p:ext uri="{BB962C8B-B14F-4D97-AF65-F5344CB8AC3E}">
        <p14:creationId xmlns:p14="http://schemas.microsoft.com/office/powerpoint/2010/main" val="36946640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81BC24-5A12-DF2D-D10D-C6F106C0E0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sz="3600" dirty="0"/>
              <a:t>Conteneurisation Docker (</a:t>
            </a:r>
            <a:r>
              <a:rPr lang="fr-FR" sz="3600" dirty="0" err="1"/>
              <a:t>Dockerfile</a:t>
            </a:r>
            <a:r>
              <a:rPr lang="fr-FR" sz="3600" dirty="0"/>
              <a:t> back + front + docker-compose)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6E7B3C7-6D96-5CE3-7B32-BF984E2E0F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6071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218E56-4972-D00D-FB3F-48A5AEB2F8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Pipeline GitHub Actions : tests → build → Netlify + Render</a:t>
            </a:r>
            <a:endParaRPr lang="fr-FR" sz="400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0ACCE32-AF91-6DF4-B543-553E688970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13590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9A2275-BA56-B1B6-4416-4AA6A68072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sz="3600" dirty="0"/>
              <a:t>Incident Git : suppression du front et restauration via git </a:t>
            </a:r>
            <a:r>
              <a:rPr lang="fr-FR" sz="3600" dirty="0" err="1"/>
              <a:t>checkout</a:t>
            </a:r>
            <a:endParaRPr lang="fr-FR" sz="360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4E8324A-0672-2ABA-FE2E-FEF8F3C1CC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71081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9D47B8-1A07-1776-2BD2-E54FF89EE1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8. Bilan et perspectives</a:t>
            </a:r>
          </a:p>
        </p:txBody>
      </p:sp>
    </p:spTree>
    <p:extLst>
      <p:ext uri="{BB962C8B-B14F-4D97-AF65-F5344CB8AC3E}">
        <p14:creationId xmlns:p14="http://schemas.microsoft.com/office/powerpoint/2010/main" val="18058476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060FCF-5531-54B6-4955-3FDFF7E237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sz="3200" dirty="0"/>
              <a:t>Compétences CDA mobilisées (tableau des blocs CCP1/CCP2/CCP3)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233CC30-1FCF-64D2-D09A-3A55ADBFA7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27402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8CA9A0-CA09-580C-CE90-8561A2CCD3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sz="3600" dirty="0"/>
              <a:t>Améliorations prévues (rate limiter, </a:t>
            </a:r>
            <a:r>
              <a:rPr lang="fr-FR" sz="3600" dirty="0" err="1"/>
              <a:t>Sentry</a:t>
            </a:r>
            <a:r>
              <a:rPr lang="fr-FR" sz="3600" dirty="0"/>
              <a:t>, tests NoSQL, </a:t>
            </a:r>
            <a:r>
              <a:rPr lang="fr-FR" sz="3600" dirty="0" err="1"/>
              <a:t>Stripe</a:t>
            </a:r>
            <a:r>
              <a:rPr lang="fr-FR" sz="3600" dirty="0"/>
              <a:t>…)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AA17819-8FB5-2A09-666C-7054ECFB84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38614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504CF6-23D7-F3EB-9CC0-F4131666E8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sz="4400" dirty="0"/>
              <a:t>Ce que ce projet t'a apporté personnellement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4FC92F2-F712-BAF0-3026-ACEB493BE0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1498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que">
  <a:themeElements>
    <a:clrScheme name="Jaune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Organique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qu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94</TotalTime>
  <Words>486</Words>
  <Application>Microsoft Office PowerPoint</Application>
  <PresentationFormat>Grand écran</PresentationFormat>
  <Paragraphs>63</Paragraphs>
  <Slides>32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32</vt:i4>
      </vt:variant>
    </vt:vector>
  </HeadingPairs>
  <TitlesOfParts>
    <vt:vector size="38" baseType="lpstr">
      <vt:lpstr>ADLaM Display</vt:lpstr>
      <vt:lpstr>Aptos Display</vt:lpstr>
      <vt:lpstr>Arial</vt:lpstr>
      <vt:lpstr>Garamond</vt:lpstr>
      <vt:lpstr>Times New Roman</vt:lpstr>
      <vt:lpstr>Organique</vt:lpstr>
      <vt:lpstr>Vite et Gourmand</vt:lpstr>
      <vt:lpstr>1. Introduction et contexte </vt:lpstr>
      <vt:lpstr>PRESENTATION </vt:lpstr>
      <vt:lpstr>La problématique : passer du mail à une application web</vt:lpstr>
      <vt:lpstr>2. Analyse des besoins </vt:lpstr>
      <vt:lpstr>Fonctionnalités</vt:lpstr>
      <vt:lpstr>PUBLIC CIBLE</vt:lpstr>
      <vt:lpstr>3. Conception</vt:lpstr>
      <vt:lpstr>METHODE DE TRAVAIL</vt:lpstr>
      <vt:lpstr>GESTION DU TEMPS</vt:lpstr>
      <vt:lpstr>4. Réalisation Front-End</vt:lpstr>
      <vt:lpstr>Stack React (Vite) + React Router + Bootstrap + Axios</vt:lpstr>
      <vt:lpstr>Structure du projet, composants clés (Navbar, ProtectedRoute, MenuCard)</vt:lpstr>
      <vt:lpstr>Gestion des états : AuthContext, CartContext, intercepteur Axios</vt:lpstr>
      <vt:lpstr>5. Réalisation Back-End </vt:lpstr>
      <vt:lpstr>API REST Laravel + architecture MVC</vt:lpstr>
      <vt:lpstr>Authentification JWT (PHPOpenSourceSaver)</vt:lpstr>
      <vt:lpstr>Endpoints principaux + gestion CORS et erreurs</vt:lpstr>
      <vt:lpstr>Base SQL (MySQL) + intégration NoSQL (MongoDB pour les avis)</vt:lpstr>
      <vt:lpstr>6. Tests et sécurité</vt:lpstr>
      <vt:lpstr>Tests unitaires Jest (LoginForm, MenuCard, ProtectedRoute…)</vt:lpstr>
      <vt:lpstr>Tests fonctionnels Postman (tableau des résultats)</vt:lpstr>
      <vt:lpstr>Tests de sécurité OWASP (injection SQL, XSS, accès inter-rôles)</vt:lpstr>
      <vt:lpstr>Bugs corrigés : InnoDB, CORS, JWT interceptor</vt:lpstr>
      <vt:lpstr>7. Déploiement &amp; CI/CD</vt:lpstr>
      <vt:lpstr>Conteneurisation Docker (Dockerfile back + front + docker-compose)</vt:lpstr>
      <vt:lpstr>Pipeline GitHub Actions : tests → build → Netlify + Render</vt:lpstr>
      <vt:lpstr>Incident Git : suppression du front et restauration via git checkout</vt:lpstr>
      <vt:lpstr>8. Bilan et perspectives</vt:lpstr>
      <vt:lpstr>Compétences CDA mobilisées (tableau des blocs CCP1/CCP2/CCP3)</vt:lpstr>
      <vt:lpstr>Améliorations prévues (rate limiter, Sentry, tests NoSQL, Stripe…)</vt:lpstr>
      <vt:lpstr>Ce que ce projet t'a apporté personnellement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Nadege Gautier</dc:creator>
  <cp:lastModifiedBy>Nadege Gautier</cp:lastModifiedBy>
  <cp:revision>9</cp:revision>
  <dcterms:created xsi:type="dcterms:W3CDTF">2026-05-29T02:24:32Z</dcterms:created>
  <dcterms:modified xsi:type="dcterms:W3CDTF">2026-05-29T03:58:32Z</dcterms:modified>
</cp:coreProperties>
</file>